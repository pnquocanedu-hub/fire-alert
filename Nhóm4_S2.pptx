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ebas Neue Cyrillic" panose="02000506000000020004" pitchFamily="2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 Slab" pitchFamily="2" charset="0"/>
      <p:regular r:id="rId17"/>
      <p:bold r:id="rId18"/>
    </p:embeddedFont>
    <p:embeddedFont>
      <p:font typeface="Roboto Slab Bold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48" autoAdjust="0"/>
  </p:normalViewPr>
  <p:slideViewPr>
    <p:cSldViewPr>
      <p:cViewPr varScale="1">
        <p:scale>
          <a:sx n="78" d="100"/>
          <a:sy n="78" d="100"/>
        </p:scale>
        <p:origin x="3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5619" y="2538576"/>
            <a:ext cx="15076762" cy="2304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6"/>
              </a:lnSpc>
            </a:pPr>
            <a:r>
              <a:rPr lang="en-US" sz="4411" b="1">
                <a:solidFill>
                  <a:srgbClr val="E64444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ỨNG DỤNG REACT NATIVE VÀ ESP32 </a:t>
            </a:r>
          </a:p>
          <a:p>
            <a:pPr algn="ctr">
              <a:lnSpc>
                <a:spcPts val="6176"/>
              </a:lnSpc>
            </a:pPr>
            <a:r>
              <a:rPr lang="en-US" sz="4411" b="1">
                <a:solidFill>
                  <a:srgbClr val="E64444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TRONG HỆ THỐNG GIÁM SÁT, PHÁT HIỆN KHÍ GAS VÀ CẢNH BÁO CHÁY THÔNG MINH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13262" y="6459980"/>
            <a:ext cx="4238604" cy="2555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7"/>
              </a:lnSpc>
            </a:pPr>
            <a:r>
              <a:rPr lang="en-US" sz="2905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BÙI HỮU AN</a:t>
            </a:r>
          </a:p>
          <a:p>
            <a:pPr algn="just">
              <a:lnSpc>
                <a:spcPts val="4067"/>
              </a:lnSpc>
            </a:pPr>
            <a:r>
              <a:rPr lang="en-US" sz="2905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PHAN NGÔ QUỐC AN</a:t>
            </a:r>
          </a:p>
          <a:p>
            <a:pPr algn="just">
              <a:lnSpc>
                <a:spcPts val="4067"/>
              </a:lnSpc>
            </a:pPr>
            <a:r>
              <a:rPr lang="en-US" sz="2905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NGUYỄN NGỌC NGÂN</a:t>
            </a:r>
          </a:p>
          <a:p>
            <a:pPr algn="just">
              <a:lnSpc>
                <a:spcPts val="4067"/>
              </a:lnSpc>
            </a:pPr>
            <a:r>
              <a:rPr lang="en-US" sz="2905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PHẠM NHƯ THUẦN</a:t>
            </a:r>
          </a:p>
          <a:p>
            <a:pPr algn="just">
              <a:lnSpc>
                <a:spcPts val="4067"/>
              </a:lnSpc>
            </a:pPr>
            <a:r>
              <a:rPr lang="en-US" sz="2905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LÊ MINH TÍN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83655" y="5621577"/>
            <a:ext cx="4584638" cy="55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10"/>
              </a:lnSpc>
            </a:pPr>
            <a:r>
              <a:rPr lang="en-US" sz="3221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SINH VIÊN THỰC HIỆN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61847" y="6988114"/>
            <a:ext cx="1612891" cy="101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3"/>
              </a:lnSpc>
            </a:pPr>
            <a:r>
              <a:rPr lang="en-US" sz="2895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24139002</a:t>
            </a:r>
          </a:p>
          <a:p>
            <a:pPr algn="just">
              <a:lnSpc>
                <a:spcPts val="4053"/>
              </a:lnSpc>
            </a:pPr>
            <a:r>
              <a:rPr lang="en-US" sz="2895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24139031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0" y="6063735"/>
            <a:ext cx="7068226" cy="4223265"/>
          </a:xfrm>
          <a:custGeom>
            <a:avLst/>
            <a:gdLst/>
            <a:ahLst/>
            <a:cxnLst/>
            <a:rect l="l" t="t" r="r" b="b"/>
            <a:pathLst>
              <a:path w="7068226" h="4223265">
                <a:moveTo>
                  <a:pt x="7068226" y="0"/>
                </a:moveTo>
                <a:lnTo>
                  <a:pt x="0" y="0"/>
                </a:lnTo>
                <a:lnTo>
                  <a:pt x="0" y="4223265"/>
                </a:lnTo>
                <a:lnTo>
                  <a:pt x="7068226" y="4223265"/>
                </a:lnTo>
                <a:lnTo>
                  <a:pt x="706822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2734610" y="0"/>
            <a:ext cx="5556556" cy="8270783"/>
          </a:xfrm>
          <a:custGeom>
            <a:avLst/>
            <a:gdLst/>
            <a:ahLst/>
            <a:cxnLst/>
            <a:rect l="l" t="t" r="r" b="b"/>
            <a:pathLst>
              <a:path w="5556556" h="8270783">
                <a:moveTo>
                  <a:pt x="5556556" y="8270783"/>
                </a:moveTo>
                <a:lnTo>
                  <a:pt x="0" y="8270783"/>
                </a:lnTo>
                <a:lnTo>
                  <a:pt x="0" y="0"/>
                </a:lnTo>
                <a:lnTo>
                  <a:pt x="5556556" y="0"/>
                </a:lnTo>
                <a:lnTo>
                  <a:pt x="5556556" y="8270783"/>
                </a:lnTo>
                <a:close/>
              </a:path>
            </a:pathLst>
          </a:custGeom>
          <a:blipFill>
            <a:blip r:embed="rId3"/>
            <a:stretch>
              <a:fillRect r="-241630" b="-1705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1028700"/>
            <a:ext cx="2526206" cy="987517"/>
          </a:xfrm>
          <a:custGeom>
            <a:avLst/>
            <a:gdLst/>
            <a:ahLst/>
            <a:cxnLst/>
            <a:rect l="l" t="t" r="r" b="b"/>
            <a:pathLst>
              <a:path w="2526206" h="987517">
                <a:moveTo>
                  <a:pt x="0" y="0"/>
                </a:moveTo>
                <a:lnTo>
                  <a:pt x="2526206" y="0"/>
                </a:lnTo>
                <a:lnTo>
                  <a:pt x="2526206" y="987517"/>
                </a:lnTo>
                <a:lnTo>
                  <a:pt x="0" y="987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15512888" y="7548135"/>
            <a:ext cx="1710165" cy="1710165"/>
          </a:xfrm>
          <a:custGeom>
            <a:avLst/>
            <a:gdLst/>
            <a:ahLst/>
            <a:cxnLst/>
            <a:rect l="l" t="t" r="r" b="b"/>
            <a:pathLst>
              <a:path w="1710165" h="1710165">
                <a:moveTo>
                  <a:pt x="0" y="0"/>
                </a:moveTo>
                <a:lnTo>
                  <a:pt x="1710165" y="0"/>
                </a:lnTo>
                <a:lnTo>
                  <a:pt x="1710165" y="1710165"/>
                </a:lnTo>
                <a:lnTo>
                  <a:pt x="0" y="1710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241622" y="4871940"/>
            <a:ext cx="3274516" cy="464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2"/>
              </a:lnSpc>
              <a:spcBef>
                <a:spcPct val="0"/>
              </a:spcBef>
            </a:pPr>
            <a:r>
              <a:rPr lang="en-US" sz="2730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261MBAD436364_01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06690" y="1856742"/>
            <a:ext cx="7674620" cy="570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8"/>
              </a:lnSpc>
              <a:spcBef>
                <a:spcPct val="0"/>
              </a:spcBef>
            </a:pPr>
            <a:r>
              <a:rPr lang="en-US" sz="3434" dirty="0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PHÁT TRIỂN ỨNG DỤNG DI ĐỘNG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4761" y="4882896"/>
            <a:ext cx="5429250" cy="464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2"/>
              </a:lnSpc>
              <a:spcBef>
                <a:spcPct val="0"/>
              </a:spcBef>
            </a:pPr>
            <a:r>
              <a:rPr lang="en-US" sz="2730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GIẢNG VIÊN: HUỲNH HOÀNG HÀ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61847" y="8002794"/>
            <a:ext cx="1612891" cy="101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3"/>
              </a:lnSpc>
            </a:pPr>
            <a:r>
              <a:rPr lang="en-US" sz="2895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24139054</a:t>
            </a:r>
          </a:p>
          <a:p>
            <a:pPr algn="just">
              <a:lnSpc>
                <a:spcPts val="4053"/>
              </a:lnSpc>
            </a:pPr>
            <a:r>
              <a:rPr lang="en-US" sz="2895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21119274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1847" y="6490165"/>
            <a:ext cx="1612891" cy="49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3"/>
              </a:lnSpc>
            </a:pPr>
            <a:r>
              <a:rPr lang="en-US" sz="2895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23119124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25345" y="6353261"/>
            <a:ext cx="7414823" cy="4430357"/>
          </a:xfrm>
          <a:custGeom>
            <a:avLst/>
            <a:gdLst/>
            <a:ahLst/>
            <a:cxnLst/>
            <a:rect l="l" t="t" r="r" b="b"/>
            <a:pathLst>
              <a:path w="7414823" h="4430357">
                <a:moveTo>
                  <a:pt x="0" y="0"/>
                </a:moveTo>
                <a:lnTo>
                  <a:pt x="7414823" y="0"/>
                </a:lnTo>
                <a:lnTo>
                  <a:pt x="7414823" y="4430357"/>
                </a:lnTo>
                <a:lnTo>
                  <a:pt x="0" y="4430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16124" y="4016524"/>
            <a:ext cx="6187350" cy="5021697"/>
            <a:chOff x="0" y="0"/>
            <a:chExt cx="1629590" cy="13225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29590" cy="1322587"/>
            </a:xfrm>
            <a:custGeom>
              <a:avLst/>
              <a:gdLst/>
              <a:ahLst/>
              <a:cxnLst/>
              <a:rect l="l" t="t" r="r" b="b"/>
              <a:pathLst>
                <a:path w="1629590" h="1322587">
                  <a:moveTo>
                    <a:pt x="63814" y="0"/>
                  </a:moveTo>
                  <a:lnTo>
                    <a:pt x="1565777" y="0"/>
                  </a:lnTo>
                  <a:cubicBezTo>
                    <a:pt x="1582701" y="0"/>
                    <a:pt x="1598932" y="6723"/>
                    <a:pt x="1610900" y="18691"/>
                  </a:cubicBezTo>
                  <a:cubicBezTo>
                    <a:pt x="1622867" y="30658"/>
                    <a:pt x="1629590" y="46889"/>
                    <a:pt x="1629590" y="63814"/>
                  </a:cubicBezTo>
                  <a:lnTo>
                    <a:pt x="1629590" y="1258773"/>
                  </a:lnTo>
                  <a:cubicBezTo>
                    <a:pt x="1629590" y="1294017"/>
                    <a:pt x="1601020" y="1322587"/>
                    <a:pt x="1565777" y="1322587"/>
                  </a:cubicBezTo>
                  <a:lnTo>
                    <a:pt x="63814" y="1322587"/>
                  </a:lnTo>
                  <a:cubicBezTo>
                    <a:pt x="46889" y="1322587"/>
                    <a:pt x="30658" y="1315864"/>
                    <a:pt x="18691" y="1303896"/>
                  </a:cubicBezTo>
                  <a:cubicBezTo>
                    <a:pt x="6723" y="1291929"/>
                    <a:pt x="0" y="1275698"/>
                    <a:pt x="0" y="1258773"/>
                  </a:cubicBezTo>
                  <a:lnTo>
                    <a:pt x="0" y="63814"/>
                  </a:lnTo>
                  <a:cubicBezTo>
                    <a:pt x="0" y="28570"/>
                    <a:pt x="28570" y="0"/>
                    <a:pt x="63814" y="0"/>
                  </a:cubicBezTo>
                  <a:close/>
                </a:path>
              </a:pathLst>
            </a:custGeom>
            <a:solidFill>
              <a:srgbClr val="273DA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29590" cy="1360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85093" y="2928696"/>
            <a:ext cx="6633795" cy="6162137"/>
            <a:chOff x="0" y="0"/>
            <a:chExt cx="1747172" cy="1622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47172" cy="1622950"/>
            </a:xfrm>
            <a:custGeom>
              <a:avLst/>
              <a:gdLst/>
              <a:ahLst/>
              <a:cxnLst/>
              <a:rect l="l" t="t" r="r" b="b"/>
              <a:pathLst>
                <a:path w="1747172" h="1622950">
                  <a:moveTo>
                    <a:pt x="59519" y="0"/>
                  </a:moveTo>
                  <a:lnTo>
                    <a:pt x="1687653" y="0"/>
                  </a:lnTo>
                  <a:cubicBezTo>
                    <a:pt x="1703438" y="0"/>
                    <a:pt x="1718577" y="6271"/>
                    <a:pt x="1729740" y="17433"/>
                  </a:cubicBezTo>
                  <a:cubicBezTo>
                    <a:pt x="1740901" y="28595"/>
                    <a:pt x="1747172" y="43734"/>
                    <a:pt x="1747172" y="59519"/>
                  </a:cubicBezTo>
                  <a:lnTo>
                    <a:pt x="1747172" y="1563430"/>
                  </a:lnTo>
                  <a:cubicBezTo>
                    <a:pt x="1747172" y="1579216"/>
                    <a:pt x="1740901" y="1594355"/>
                    <a:pt x="1729740" y="1605517"/>
                  </a:cubicBezTo>
                  <a:cubicBezTo>
                    <a:pt x="1718577" y="1616679"/>
                    <a:pt x="1703438" y="1622950"/>
                    <a:pt x="1687653" y="1622950"/>
                  </a:cubicBezTo>
                  <a:lnTo>
                    <a:pt x="59519" y="1622950"/>
                  </a:lnTo>
                  <a:cubicBezTo>
                    <a:pt x="43734" y="1622950"/>
                    <a:pt x="28595" y="1616679"/>
                    <a:pt x="17433" y="1605517"/>
                  </a:cubicBezTo>
                  <a:cubicBezTo>
                    <a:pt x="6271" y="1594355"/>
                    <a:pt x="0" y="1579216"/>
                    <a:pt x="0" y="1563430"/>
                  </a:cubicBezTo>
                  <a:lnTo>
                    <a:pt x="0" y="59519"/>
                  </a:lnTo>
                  <a:cubicBezTo>
                    <a:pt x="0" y="43734"/>
                    <a:pt x="6271" y="28595"/>
                    <a:pt x="17433" y="17433"/>
                  </a:cubicBezTo>
                  <a:cubicBezTo>
                    <a:pt x="28595" y="6271"/>
                    <a:pt x="43734" y="0"/>
                    <a:pt x="59519" y="0"/>
                  </a:cubicBezTo>
                  <a:close/>
                </a:path>
              </a:pathLst>
            </a:custGeom>
            <a:solidFill>
              <a:srgbClr val="273DA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47172" cy="1661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24370" y="4299505"/>
            <a:ext cx="5608909" cy="495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9408" lvl="1" indent="-339704" algn="just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Rò rỉ khí gas và cháy nổ gây nguy hiểm cho người và tài sản.</a:t>
            </a:r>
          </a:p>
          <a:p>
            <a:pPr marL="679408" lvl="1" indent="-339704" algn="just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Cảnh báo tại chỗ chưa đáp ứng nhu cầu giám sát khi người dùng vắng mặt.</a:t>
            </a:r>
          </a:p>
          <a:p>
            <a:pPr marL="679408" lvl="1" indent="-339704" algn="just">
              <a:lnSpc>
                <a:spcPts val="4405"/>
              </a:lnSpc>
              <a:buFont typeface="Arial"/>
              <a:buChar char="•"/>
            </a:pPr>
            <a:r>
              <a:rPr lang="en-US" sz="3146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Cần kết hợp phát hiện sự cố và thông báo từ xa.</a:t>
            </a:r>
          </a:p>
          <a:p>
            <a:pPr algn="just">
              <a:lnSpc>
                <a:spcPts val="4405"/>
              </a:lnSpc>
            </a:pPr>
            <a:endParaRPr lang="en-US" sz="3146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1390127" y="-1737268"/>
            <a:ext cx="21295148" cy="4396576"/>
          </a:xfrm>
          <a:custGeom>
            <a:avLst/>
            <a:gdLst/>
            <a:ahLst/>
            <a:cxnLst/>
            <a:rect l="l" t="t" r="r" b="b"/>
            <a:pathLst>
              <a:path w="21295148" h="4396576">
                <a:moveTo>
                  <a:pt x="0" y="0"/>
                </a:moveTo>
                <a:lnTo>
                  <a:pt x="21295148" y="0"/>
                </a:lnTo>
                <a:lnTo>
                  <a:pt x="21295148" y="4396576"/>
                </a:lnTo>
                <a:lnTo>
                  <a:pt x="0" y="4396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534430" y="3230370"/>
            <a:ext cx="5891327" cy="550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085" lvl="1" indent="-340042" algn="just">
              <a:lnSpc>
                <a:spcPts val="4409"/>
              </a:lnSpc>
              <a:spcBef>
                <a:spcPct val="0"/>
              </a:spcBef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Giám sát khí gas, nhiệt độ và ngọn lửa.</a:t>
            </a:r>
          </a:p>
          <a:p>
            <a:pPr marL="680085" lvl="1" indent="-340042" algn="just">
              <a:lnSpc>
                <a:spcPts val="4409"/>
              </a:lnSpc>
              <a:spcBef>
                <a:spcPct val="0"/>
              </a:spcBef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Phân loại mức nguy hiểm và cảnh báo tại chỗ.</a:t>
            </a:r>
          </a:p>
          <a:p>
            <a:pPr marL="680085" lvl="1" indent="-340042" algn="just">
              <a:lnSpc>
                <a:spcPts val="4409"/>
              </a:lnSpc>
              <a:spcBef>
                <a:spcPct val="0"/>
              </a:spcBef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Đồng bộ dữ liệu qua Firebase.</a:t>
            </a:r>
          </a:p>
          <a:p>
            <a:pPr marL="680085" lvl="1" indent="-340042" algn="just">
              <a:lnSpc>
                <a:spcPts val="4409"/>
              </a:lnSpc>
              <a:spcBef>
                <a:spcPct val="0"/>
              </a:spcBef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Theo dõi bằng ứng dụng Fire Alert.</a:t>
            </a:r>
          </a:p>
          <a:p>
            <a:pPr marL="680085" lvl="1" indent="-340042" algn="just">
              <a:lnSpc>
                <a:spcPts val="4409"/>
              </a:lnSpc>
              <a:spcBef>
                <a:spcPct val="0"/>
              </a:spcBef>
              <a:buFont typeface="Arial"/>
              <a:buChar char="•"/>
            </a:pPr>
            <a:r>
              <a:rPr lang="en-US" sz="31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Hỗ trợ email cảnh báo, lịch sử và gọi SOS.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27942" y="773965"/>
            <a:ext cx="11298287" cy="90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1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VẤN ĐỀ &amp; MỤC TIÊU NGHIÊN CỨU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24370" y="3179964"/>
            <a:ext cx="1879267" cy="63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7"/>
              </a:lnSpc>
            </a:pPr>
            <a:r>
              <a:rPr lang="en-US" sz="3762" b="1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VẤN ĐỀ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4905" y="2163345"/>
            <a:ext cx="2391519" cy="63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7"/>
              </a:lnSpc>
            </a:pPr>
            <a:r>
              <a:rPr lang="en-US" sz="3762" b="1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MỤC TIÊU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734610" y="0"/>
            <a:ext cx="5556556" cy="8270783"/>
          </a:xfrm>
          <a:custGeom>
            <a:avLst/>
            <a:gdLst/>
            <a:ahLst/>
            <a:cxnLst/>
            <a:rect l="l" t="t" r="r" b="b"/>
            <a:pathLst>
              <a:path w="5556556" h="8270783">
                <a:moveTo>
                  <a:pt x="5556556" y="8270783"/>
                </a:moveTo>
                <a:lnTo>
                  <a:pt x="0" y="8270783"/>
                </a:lnTo>
                <a:lnTo>
                  <a:pt x="0" y="0"/>
                </a:lnTo>
                <a:lnTo>
                  <a:pt x="5556556" y="0"/>
                </a:lnTo>
                <a:lnTo>
                  <a:pt x="5556556" y="8270783"/>
                </a:lnTo>
                <a:close/>
              </a:path>
            </a:pathLst>
          </a:custGeom>
          <a:blipFill>
            <a:blip r:embed="rId2"/>
            <a:stretch>
              <a:fillRect r="-241630" b="-1705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462484"/>
            <a:ext cx="14982409" cy="8427605"/>
          </a:xfrm>
          <a:custGeom>
            <a:avLst/>
            <a:gdLst/>
            <a:ahLst/>
            <a:cxnLst/>
            <a:rect l="l" t="t" r="r" b="b"/>
            <a:pathLst>
              <a:path w="14982409" h="8427605">
                <a:moveTo>
                  <a:pt x="0" y="0"/>
                </a:moveTo>
                <a:lnTo>
                  <a:pt x="14982409" y="0"/>
                </a:lnTo>
                <a:lnTo>
                  <a:pt x="14982409" y="8427605"/>
                </a:lnTo>
                <a:lnTo>
                  <a:pt x="0" y="8427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4729" y="311150"/>
            <a:ext cx="13661251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000" b="1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KIẾN TRÚC TỔNG THỂ HỆ THỐNG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9112883" y="199051"/>
            <a:ext cx="8033897" cy="10711862"/>
          </a:xfrm>
          <a:custGeom>
            <a:avLst/>
            <a:gdLst/>
            <a:ahLst/>
            <a:cxnLst/>
            <a:rect l="l" t="t" r="r" b="b"/>
            <a:pathLst>
              <a:path w="8033897" h="10711862">
                <a:moveTo>
                  <a:pt x="0" y="0"/>
                </a:moveTo>
                <a:lnTo>
                  <a:pt x="8033896" y="0"/>
                </a:lnTo>
                <a:lnTo>
                  <a:pt x="8033896" y="10711862"/>
                </a:lnTo>
                <a:lnTo>
                  <a:pt x="0" y="10711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538034"/>
            <a:ext cx="7773900" cy="8033897"/>
          </a:xfrm>
          <a:custGeom>
            <a:avLst/>
            <a:gdLst/>
            <a:ahLst/>
            <a:cxnLst/>
            <a:rect l="l" t="t" r="r" b="b"/>
            <a:pathLst>
              <a:path w="7773900" h="8033897">
                <a:moveTo>
                  <a:pt x="0" y="0"/>
                </a:moveTo>
                <a:lnTo>
                  <a:pt x="7773900" y="0"/>
                </a:lnTo>
                <a:lnTo>
                  <a:pt x="7773900" y="8033896"/>
                </a:lnTo>
                <a:lnTo>
                  <a:pt x="0" y="8033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49560" y="352425"/>
            <a:ext cx="838887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9"/>
              </a:lnSpc>
            </a:pPr>
            <a:r>
              <a:rPr lang="en-US" sz="4999" b="1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THIẾT KẾ PHẦN CỨNG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477264"/>
            <a:ext cx="2399832" cy="781036"/>
          </a:xfrm>
          <a:custGeom>
            <a:avLst/>
            <a:gdLst/>
            <a:ahLst/>
            <a:cxnLst/>
            <a:rect l="l" t="t" r="r" b="b"/>
            <a:pathLst>
              <a:path w="2399832" h="781036">
                <a:moveTo>
                  <a:pt x="0" y="0"/>
                </a:moveTo>
                <a:lnTo>
                  <a:pt x="2399832" y="0"/>
                </a:lnTo>
                <a:lnTo>
                  <a:pt x="2399832" y="781036"/>
                </a:lnTo>
                <a:lnTo>
                  <a:pt x="0" y="781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72092" y="7236658"/>
            <a:ext cx="5615908" cy="3050342"/>
          </a:xfrm>
          <a:custGeom>
            <a:avLst/>
            <a:gdLst/>
            <a:ahLst/>
            <a:cxnLst/>
            <a:rect l="l" t="t" r="r" b="b"/>
            <a:pathLst>
              <a:path w="5615908" h="3050342">
                <a:moveTo>
                  <a:pt x="0" y="0"/>
                </a:moveTo>
                <a:lnTo>
                  <a:pt x="5615908" y="0"/>
                </a:lnTo>
                <a:lnTo>
                  <a:pt x="5615908" y="3050342"/>
                </a:lnTo>
                <a:lnTo>
                  <a:pt x="0" y="3050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062577"/>
            <a:ext cx="18288000" cy="9224423"/>
          </a:xfrm>
          <a:custGeom>
            <a:avLst/>
            <a:gdLst/>
            <a:ahLst/>
            <a:cxnLst/>
            <a:rect l="l" t="t" r="r" b="b"/>
            <a:pathLst>
              <a:path w="18288000" h="9224423">
                <a:moveTo>
                  <a:pt x="0" y="0"/>
                </a:moveTo>
                <a:lnTo>
                  <a:pt x="18288000" y="0"/>
                </a:lnTo>
                <a:lnTo>
                  <a:pt x="18288000" y="9224423"/>
                </a:lnTo>
                <a:lnTo>
                  <a:pt x="0" y="92244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51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350408" y="1380267"/>
            <a:ext cx="14659" cy="242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22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61441" y="66534"/>
            <a:ext cx="17965118" cy="854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LƯU ĐỒ THUẬT TOÁN XÁC ĐỊNH TRẠNG THÁI CẢNH BÁO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49288"/>
            <a:ext cx="2399832" cy="781036"/>
          </a:xfrm>
          <a:custGeom>
            <a:avLst/>
            <a:gdLst/>
            <a:ahLst/>
            <a:cxnLst/>
            <a:rect l="l" t="t" r="r" b="b"/>
            <a:pathLst>
              <a:path w="2399832" h="781036">
                <a:moveTo>
                  <a:pt x="0" y="0"/>
                </a:moveTo>
                <a:lnTo>
                  <a:pt x="2399832" y="0"/>
                </a:lnTo>
                <a:lnTo>
                  <a:pt x="2399832" y="781036"/>
                </a:lnTo>
                <a:lnTo>
                  <a:pt x="0" y="781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2841035775"/>
              </p:ext>
            </p:extLst>
          </p:nvPr>
        </p:nvGraphicFramePr>
        <p:xfrm>
          <a:off x="1028700" y="952500"/>
          <a:ext cx="16230600" cy="662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469100" imgH="7912100" progId="Excel.Sheet.12">
                  <p:embed/>
                </p:oleObj>
              </mc:Choice>
              <mc:Fallback>
                <p:oleObj name="Worksheet" r:id="rId4" imgW="19469100" imgH="7912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8700" y="952500"/>
                        <a:ext cx="16230600" cy="6628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1028700" y="6077178"/>
            <a:ext cx="3706341" cy="742580"/>
            <a:chOff x="0" y="0"/>
            <a:chExt cx="976156" cy="1955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76156" cy="195577"/>
            </a:xfrm>
            <a:custGeom>
              <a:avLst/>
              <a:gdLst/>
              <a:ahLst/>
              <a:cxnLst/>
              <a:rect l="l" t="t" r="r" b="b"/>
              <a:pathLst>
                <a:path w="976156" h="195577">
                  <a:moveTo>
                    <a:pt x="0" y="0"/>
                  </a:moveTo>
                  <a:lnTo>
                    <a:pt x="976156" y="0"/>
                  </a:lnTo>
                  <a:lnTo>
                    <a:pt x="976156" y="195577"/>
                  </a:lnTo>
                  <a:lnTo>
                    <a:pt x="0" y="195577"/>
                  </a:lnTo>
                  <a:close/>
                </a:path>
              </a:pathLst>
            </a:custGeom>
            <a:solidFill>
              <a:srgbClr val="273DA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76156" cy="2336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735041" y="565143"/>
            <a:ext cx="8817918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THIẾT KẾ PHẦN MỀM ESP32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991208"/>
            <a:ext cx="12730441" cy="2546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2"/>
              </a:lnSpc>
              <a:spcBef>
                <a:spcPct val="0"/>
              </a:spcBef>
            </a:pPr>
            <a:r>
              <a:rPr lang="en-US" sz="3602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- EMA: Làm mượt tín hiệu khí gas.</a:t>
            </a:r>
          </a:p>
          <a:p>
            <a:pPr algn="l">
              <a:lnSpc>
                <a:spcPts val="5042"/>
              </a:lnSpc>
              <a:spcBef>
                <a:spcPct val="0"/>
              </a:spcBef>
            </a:pPr>
            <a:r>
              <a:rPr lang="en-US" sz="3602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- Sliding Window: Xác nhận tín hiệu lửa liên tục.</a:t>
            </a:r>
          </a:p>
          <a:p>
            <a:pPr algn="l">
              <a:lnSpc>
                <a:spcPts val="5042"/>
              </a:lnSpc>
              <a:spcBef>
                <a:spcPct val="0"/>
              </a:spcBef>
            </a:pPr>
            <a:r>
              <a:rPr lang="en-US" sz="3602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- Hysteresis: Hạn chế cảnh báo dao động quanh ngưỡng.</a:t>
            </a:r>
          </a:p>
          <a:p>
            <a:pPr algn="l">
              <a:lnSpc>
                <a:spcPts val="5042"/>
              </a:lnSpc>
              <a:spcBef>
                <a:spcPct val="0"/>
              </a:spcBef>
            </a:pPr>
            <a:r>
              <a:rPr lang="en-US" sz="3602">
                <a:solidFill>
                  <a:srgbClr val="273DAC"/>
                </a:solidFill>
                <a:latin typeface="Roboto Slab"/>
                <a:ea typeface="Roboto Slab"/>
                <a:cs typeface="Roboto Slab"/>
                <a:sym typeface="Roboto Slab"/>
              </a:rPr>
              <a:t>- FreeRTOS: Phân chia các công việc xử lý và truyền thông.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30586" y="6045878"/>
            <a:ext cx="5918413" cy="712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CÁC KỸ THUẬT XỬ LÝ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8000" y="1259673"/>
            <a:ext cx="15172000" cy="8534250"/>
          </a:xfrm>
          <a:custGeom>
            <a:avLst/>
            <a:gdLst/>
            <a:ahLst/>
            <a:cxnLst/>
            <a:rect l="l" t="t" r="r" b="b"/>
            <a:pathLst>
              <a:path w="15172000" h="8534250">
                <a:moveTo>
                  <a:pt x="0" y="0"/>
                </a:moveTo>
                <a:lnTo>
                  <a:pt x="15172000" y="0"/>
                </a:lnTo>
                <a:lnTo>
                  <a:pt x="15172000" y="8534250"/>
                </a:lnTo>
                <a:lnTo>
                  <a:pt x="0" y="8534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137913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FIREBASE VÀ CƠ CHẾ ĐỒNG BỘ DỮ LIỆU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65011" y="8213858"/>
            <a:ext cx="7315200" cy="1510289"/>
          </a:xfrm>
          <a:custGeom>
            <a:avLst/>
            <a:gdLst/>
            <a:ahLst/>
            <a:cxnLst/>
            <a:rect l="l" t="t" r="r" b="b"/>
            <a:pathLst>
              <a:path w="7315200" h="1510289">
                <a:moveTo>
                  <a:pt x="7315200" y="0"/>
                </a:moveTo>
                <a:lnTo>
                  <a:pt x="0" y="0"/>
                </a:lnTo>
                <a:lnTo>
                  <a:pt x="0" y="1510289"/>
                </a:lnTo>
                <a:lnTo>
                  <a:pt x="7315200" y="151028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67380"/>
            <a:ext cx="1832084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THIẾT KẾ VÀ XỬ LÝ DỮ LIỆU TRÊN ỨNG DỤNG FIRE ALERT</a:t>
            </a:r>
          </a:p>
        </p:txBody>
      </p:sp>
      <p:sp>
        <p:nvSpPr>
          <p:cNvPr id="4" name="Freeform 4"/>
          <p:cNvSpPr/>
          <p:nvPr/>
        </p:nvSpPr>
        <p:spPr>
          <a:xfrm>
            <a:off x="6152704" y="0"/>
            <a:ext cx="12135296" cy="2505442"/>
          </a:xfrm>
          <a:custGeom>
            <a:avLst/>
            <a:gdLst/>
            <a:ahLst/>
            <a:cxnLst/>
            <a:rect l="l" t="t" r="r" b="b"/>
            <a:pathLst>
              <a:path w="12135296" h="2505442">
                <a:moveTo>
                  <a:pt x="0" y="0"/>
                </a:moveTo>
                <a:lnTo>
                  <a:pt x="12135296" y="0"/>
                </a:lnTo>
                <a:lnTo>
                  <a:pt x="12135296" y="2505442"/>
                </a:lnTo>
                <a:lnTo>
                  <a:pt x="0" y="250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6511277"/>
            <a:ext cx="18288000" cy="3775723"/>
          </a:xfrm>
          <a:custGeom>
            <a:avLst/>
            <a:gdLst/>
            <a:ahLst/>
            <a:cxnLst/>
            <a:rect l="l" t="t" r="r" b="b"/>
            <a:pathLst>
              <a:path w="18288000" h="3775723">
                <a:moveTo>
                  <a:pt x="0" y="0"/>
                </a:moveTo>
                <a:lnTo>
                  <a:pt x="18288000" y="0"/>
                </a:lnTo>
                <a:lnTo>
                  <a:pt x="18288000" y="3775723"/>
                </a:lnTo>
                <a:lnTo>
                  <a:pt x="0" y="3775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14898" y="1252721"/>
            <a:ext cx="16658203" cy="8471427"/>
          </a:xfrm>
          <a:custGeom>
            <a:avLst/>
            <a:gdLst/>
            <a:ahLst/>
            <a:cxnLst/>
            <a:rect l="l" t="t" r="r" b="b"/>
            <a:pathLst>
              <a:path w="16658203" h="8471427">
                <a:moveTo>
                  <a:pt x="0" y="0"/>
                </a:moveTo>
                <a:lnTo>
                  <a:pt x="16658204" y="0"/>
                </a:lnTo>
                <a:lnTo>
                  <a:pt x="16658204" y="8471426"/>
                </a:lnTo>
                <a:lnTo>
                  <a:pt x="0" y="8471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7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457980" y="1935420"/>
            <a:ext cx="3641278" cy="7651754"/>
          </a:xfrm>
          <a:custGeom>
            <a:avLst/>
            <a:gdLst/>
            <a:ahLst/>
            <a:cxnLst/>
            <a:rect l="l" t="t" r="r" b="b"/>
            <a:pathLst>
              <a:path w="3641278" h="7651754">
                <a:moveTo>
                  <a:pt x="0" y="0"/>
                </a:moveTo>
                <a:lnTo>
                  <a:pt x="3641277" y="0"/>
                </a:lnTo>
                <a:lnTo>
                  <a:pt x="3641277" y="7651754"/>
                </a:lnTo>
                <a:lnTo>
                  <a:pt x="0" y="7651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710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7299" flipH="1">
            <a:off x="85626" y="-1612708"/>
            <a:ext cx="20394541" cy="4210638"/>
          </a:xfrm>
          <a:custGeom>
            <a:avLst/>
            <a:gdLst/>
            <a:ahLst/>
            <a:cxnLst/>
            <a:rect l="l" t="t" r="r" b="b"/>
            <a:pathLst>
              <a:path w="20394541" h="4210638">
                <a:moveTo>
                  <a:pt x="20394541" y="0"/>
                </a:moveTo>
                <a:lnTo>
                  <a:pt x="0" y="0"/>
                </a:lnTo>
                <a:lnTo>
                  <a:pt x="0" y="4210638"/>
                </a:lnTo>
                <a:lnTo>
                  <a:pt x="20394541" y="4210638"/>
                </a:lnTo>
                <a:lnTo>
                  <a:pt x="20394541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563562"/>
            <a:ext cx="18288000" cy="84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KẾT LUẬN VÀ HƯỚNG PHÁT TRIỂN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34168" y="2278301"/>
            <a:ext cx="4998137" cy="59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7"/>
              </a:lnSpc>
            </a:pPr>
            <a:r>
              <a:rPr lang="en-US" sz="3455" b="1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KẾT QUẢ ĐẠT ĐƯỢC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36977" y="2914038"/>
            <a:ext cx="8354892" cy="6758152"/>
            <a:chOff x="0" y="0"/>
            <a:chExt cx="2347079" cy="18985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47079" cy="1898519"/>
            </a:xfrm>
            <a:custGeom>
              <a:avLst/>
              <a:gdLst/>
              <a:ahLst/>
              <a:cxnLst/>
              <a:rect l="l" t="t" r="r" b="b"/>
              <a:pathLst>
                <a:path w="2347079" h="1898519">
                  <a:moveTo>
                    <a:pt x="47258" y="0"/>
                  </a:moveTo>
                  <a:lnTo>
                    <a:pt x="2299821" y="0"/>
                  </a:lnTo>
                  <a:cubicBezTo>
                    <a:pt x="2312355" y="0"/>
                    <a:pt x="2324375" y="4979"/>
                    <a:pt x="2333238" y="13842"/>
                  </a:cubicBezTo>
                  <a:cubicBezTo>
                    <a:pt x="2342100" y="22704"/>
                    <a:pt x="2347079" y="34725"/>
                    <a:pt x="2347079" y="47258"/>
                  </a:cubicBezTo>
                  <a:lnTo>
                    <a:pt x="2347079" y="1851260"/>
                  </a:lnTo>
                  <a:cubicBezTo>
                    <a:pt x="2347079" y="1877360"/>
                    <a:pt x="2325921" y="1898519"/>
                    <a:pt x="2299821" y="1898519"/>
                  </a:cubicBezTo>
                  <a:lnTo>
                    <a:pt x="47258" y="1898519"/>
                  </a:lnTo>
                  <a:cubicBezTo>
                    <a:pt x="34725" y="1898519"/>
                    <a:pt x="22704" y="1893540"/>
                    <a:pt x="13842" y="1884677"/>
                  </a:cubicBezTo>
                  <a:cubicBezTo>
                    <a:pt x="4979" y="1875814"/>
                    <a:pt x="0" y="1863794"/>
                    <a:pt x="0" y="1851260"/>
                  </a:cubicBezTo>
                  <a:lnTo>
                    <a:pt x="0" y="47258"/>
                  </a:lnTo>
                  <a:cubicBezTo>
                    <a:pt x="0" y="34725"/>
                    <a:pt x="4979" y="22704"/>
                    <a:pt x="13842" y="13842"/>
                  </a:cubicBezTo>
                  <a:cubicBezTo>
                    <a:pt x="22704" y="4979"/>
                    <a:pt x="34725" y="0"/>
                    <a:pt x="47258" y="0"/>
                  </a:cubicBezTo>
                  <a:close/>
                </a:path>
              </a:pathLst>
            </a:custGeom>
            <a:solidFill>
              <a:srgbClr val="273DA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47079" cy="1936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34959" y="2087850"/>
            <a:ext cx="1351600" cy="1351600"/>
          </a:xfrm>
          <a:custGeom>
            <a:avLst/>
            <a:gdLst/>
            <a:ahLst/>
            <a:cxnLst/>
            <a:rect l="l" t="t" r="r" b="b"/>
            <a:pathLst>
              <a:path w="1351600" h="1351600">
                <a:moveTo>
                  <a:pt x="0" y="0"/>
                </a:moveTo>
                <a:lnTo>
                  <a:pt x="1351600" y="0"/>
                </a:lnTo>
                <a:lnTo>
                  <a:pt x="1351600" y="1351600"/>
                </a:lnTo>
                <a:lnTo>
                  <a:pt x="0" y="1351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64502" y="2174902"/>
            <a:ext cx="683029" cy="99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2"/>
              </a:lnSpc>
            </a:pPr>
            <a:r>
              <a:rPr lang="en-US" sz="5794" b="1">
                <a:solidFill>
                  <a:srgbClr val="FFFFFF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0996" y="3234735"/>
            <a:ext cx="7929650" cy="598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7240" lvl="1" indent="-303620" algn="l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Xây dựng mô hình IoT kết hợp ESP32 và các cảm biến.</a:t>
            </a:r>
          </a:p>
          <a:p>
            <a:pPr marL="607240" lvl="1" indent="-303620" algn="l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Thiết kế cơ chế cảnh báo tại chỗ bằng LED, Buzzer và Relay mô phỏng.</a:t>
            </a:r>
          </a:p>
          <a:p>
            <a:pPr marL="607240" lvl="1" indent="-303620" algn="l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Xây dựng ứng dụng Fire Alert để giám sát các khu vực.</a:t>
            </a:r>
          </a:p>
          <a:p>
            <a:pPr marL="607240" lvl="1" indent="-303620" algn="l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Tích hợp Firebase phục vụ đồng bộ dữ liệu và lưu lịch sử cảnh báo.</a:t>
            </a:r>
          </a:p>
          <a:p>
            <a:pPr marL="607240" lvl="1" indent="-303620" algn="l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Hỗ trợ gọi khẩn cấp đến 114 hoặc số điện thoại người thân.</a:t>
            </a:r>
          </a:p>
          <a:p>
            <a:pPr marL="607240" lvl="1" indent="-303620" algn="l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Tự động gửi email cảnh báo khi hệ thống xác định trạng thái cháy khẩn cấp.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779636" y="3696576"/>
            <a:ext cx="6573405" cy="5975614"/>
            <a:chOff x="0" y="0"/>
            <a:chExt cx="1846619" cy="16786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46619" cy="1678686"/>
            </a:xfrm>
            <a:custGeom>
              <a:avLst/>
              <a:gdLst/>
              <a:ahLst/>
              <a:cxnLst/>
              <a:rect l="l" t="t" r="r" b="b"/>
              <a:pathLst>
                <a:path w="1846619" h="1678686">
                  <a:moveTo>
                    <a:pt x="60066" y="0"/>
                  </a:moveTo>
                  <a:lnTo>
                    <a:pt x="1786553" y="0"/>
                  </a:lnTo>
                  <a:cubicBezTo>
                    <a:pt x="1819727" y="0"/>
                    <a:pt x="1846619" y="26892"/>
                    <a:pt x="1846619" y="60066"/>
                  </a:cubicBezTo>
                  <a:lnTo>
                    <a:pt x="1846619" y="1618620"/>
                  </a:lnTo>
                  <a:cubicBezTo>
                    <a:pt x="1846619" y="1634550"/>
                    <a:pt x="1840291" y="1649828"/>
                    <a:pt x="1829026" y="1661093"/>
                  </a:cubicBezTo>
                  <a:cubicBezTo>
                    <a:pt x="1817761" y="1672358"/>
                    <a:pt x="1802483" y="1678686"/>
                    <a:pt x="1786553" y="1678686"/>
                  </a:cubicBezTo>
                  <a:lnTo>
                    <a:pt x="60066" y="1678686"/>
                  </a:lnTo>
                  <a:cubicBezTo>
                    <a:pt x="26892" y="1678686"/>
                    <a:pt x="0" y="1651793"/>
                    <a:pt x="0" y="1618620"/>
                  </a:cubicBezTo>
                  <a:lnTo>
                    <a:pt x="0" y="60066"/>
                  </a:lnTo>
                  <a:cubicBezTo>
                    <a:pt x="0" y="44135"/>
                    <a:pt x="6328" y="28857"/>
                    <a:pt x="17593" y="17593"/>
                  </a:cubicBezTo>
                  <a:cubicBezTo>
                    <a:pt x="28857" y="6328"/>
                    <a:pt x="44135" y="0"/>
                    <a:pt x="60066" y="0"/>
                  </a:cubicBezTo>
                  <a:close/>
                </a:path>
              </a:pathLst>
            </a:custGeom>
            <a:solidFill>
              <a:srgbClr val="273DA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46619" cy="1716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62337" y="2754125"/>
            <a:ext cx="1351600" cy="1351600"/>
          </a:xfrm>
          <a:custGeom>
            <a:avLst/>
            <a:gdLst/>
            <a:ahLst/>
            <a:cxnLst/>
            <a:rect l="l" t="t" r="r" b="b"/>
            <a:pathLst>
              <a:path w="1351600" h="1351600">
                <a:moveTo>
                  <a:pt x="0" y="0"/>
                </a:moveTo>
                <a:lnTo>
                  <a:pt x="1351600" y="0"/>
                </a:lnTo>
                <a:lnTo>
                  <a:pt x="1351600" y="1351600"/>
                </a:lnTo>
                <a:lnTo>
                  <a:pt x="0" y="1351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753779" y="2841177"/>
            <a:ext cx="683029" cy="99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2"/>
              </a:lnSpc>
            </a:pPr>
            <a:r>
              <a:rPr lang="en-US" sz="5794" b="1">
                <a:solidFill>
                  <a:srgbClr val="FFFFFF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92223" y="4086675"/>
            <a:ext cx="5748231" cy="4986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7240" lvl="1" indent="-303620" algn="l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Tiếp tục hiệu chuẩn MQ-2 và tối ưu ngưỡng cảnh báo.</a:t>
            </a:r>
          </a:p>
          <a:p>
            <a:pPr marL="607240" lvl="1" indent="-303620" algn="l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Kiểm thử độ ổn định, độ trễ và khả năng hoạt động lâu dài.</a:t>
            </a:r>
          </a:p>
          <a:p>
            <a:pPr marL="607240" lvl="1" indent="-303620" algn="l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Hoàn thiện thông báo khi ứng dụng chạy nền.</a:t>
            </a:r>
          </a:p>
          <a:p>
            <a:pPr marL="607240" lvl="1" indent="-303620" algn="l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Mở rộng quản lý nhiều ESP32 độc lập.</a:t>
            </a:r>
          </a:p>
          <a:p>
            <a:pPr marL="607240" lvl="1" indent="-303620" algn="l">
              <a:lnSpc>
                <a:spcPts val="3937"/>
              </a:lnSpc>
              <a:spcBef>
                <a:spcPct val="0"/>
              </a:spcBef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Nghiên cứu lưu dữ liệu khi mất mạng và đồng bộ lại.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53937" y="3030269"/>
            <a:ext cx="5069561" cy="535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27"/>
              </a:lnSpc>
            </a:pPr>
            <a:r>
              <a:rPr lang="en-US" sz="3234" b="1" dirty="0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VÀ HƯỚNG PHÁT TRIỂN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18712" y="2578607"/>
            <a:ext cx="2195226" cy="51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038" b="1">
                <a:solidFill>
                  <a:srgbClr val="273DA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HẠN CHẾ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958062" y="3435225"/>
            <a:ext cx="18677102" cy="3856057"/>
          </a:xfrm>
          <a:custGeom>
            <a:avLst/>
            <a:gdLst/>
            <a:ahLst/>
            <a:cxnLst/>
            <a:rect l="l" t="t" r="r" b="b"/>
            <a:pathLst>
              <a:path w="18677102" h="3856057">
                <a:moveTo>
                  <a:pt x="18677102" y="0"/>
                </a:moveTo>
                <a:lnTo>
                  <a:pt x="0" y="0"/>
                </a:lnTo>
                <a:lnTo>
                  <a:pt x="0" y="3856057"/>
                </a:lnTo>
                <a:lnTo>
                  <a:pt x="18677102" y="3856057"/>
                </a:lnTo>
                <a:lnTo>
                  <a:pt x="18677102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1715078"/>
            <a:ext cx="14346313" cy="8571922"/>
          </a:xfrm>
          <a:custGeom>
            <a:avLst/>
            <a:gdLst/>
            <a:ahLst/>
            <a:cxnLst/>
            <a:rect l="l" t="t" r="r" b="b"/>
            <a:pathLst>
              <a:path w="14346313" h="8571922">
                <a:moveTo>
                  <a:pt x="14346313" y="0"/>
                </a:moveTo>
                <a:lnTo>
                  <a:pt x="0" y="0"/>
                </a:lnTo>
                <a:lnTo>
                  <a:pt x="0" y="8571922"/>
                </a:lnTo>
                <a:lnTo>
                  <a:pt x="14346313" y="8571922"/>
                </a:lnTo>
                <a:lnTo>
                  <a:pt x="14346313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46679" y="2386346"/>
            <a:ext cx="11794641" cy="39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28"/>
              </a:lnSpc>
            </a:pPr>
            <a:r>
              <a:rPr lang="en-US" sz="22806">
                <a:solidFill>
                  <a:srgbClr val="273DAC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3283282" y="-104775"/>
            <a:ext cx="5079898" cy="5079898"/>
          </a:xfrm>
          <a:custGeom>
            <a:avLst/>
            <a:gdLst/>
            <a:ahLst/>
            <a:cxnLst/>
            <a:rect l="l" t="t" r="r" b="b"/>
            <a:pathLst>
              <a:path w="5079898" h="5079898">
                <a:moveTo>
                  <a:pt x="5079898" y="5079898"/>
                </a:moveTo>
                <a:lnTo>
                  <a:pt x="0" y="5079898"/>
                </a:lnTo>
                <a:lnTo>
                  <a:pt x="0" y="0"/>
                </a:lnTo>
                <a:lnTo>
                  <a:pt x="5079898" y="0"/>
                </a:lnTo>
                <a:lnTo>
                  <a:pt x="5079898" y="507989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434</Words>
  <Application>Microsoft Macintosh PowerPoint</Application>
  <PresentationFormat>Custom</PresentationFormat>
  <Paragraphs>56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Roboto Slab</vt:lpstr>
      <vt:lpstr>Bebas Neue Cyrillic</vt:lpstr>
      <vt:lpstr>Roboto Slab Bold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Minimalist Project Presentation</dc:title>
  <cp:lastModifiedBy>ngocngan1onlyone@gmail.com</cp:lastModifiedBy>
  <cp:revision>2</cp:revision>
  <dcterms:created xsi:type="dcterms:W3CDTF">2006-08-16T00:00:00Z</dcterms:created>
  <dcterms:modified xsi:type="dcterms:W3CDTF">2026-10-28T02:40:58Z</dcterms:modified>
  <dc:identifier>DAHYXMaKZcA</dc:identifier>
</cp:coreProperties>
</file>